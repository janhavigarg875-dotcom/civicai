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65" r:id="rId21"/>
    <p:sldId id="266" r:id="rId22"/>
    <p:sldId id="267" r:id="rId23"/>
    <p:sldId id="26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2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364" y="821871"/>
            <a:ext cx="6289562" cy="3950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909" y="4232374"/>
            <a:ext cx="8778180" cy="61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3696" y="1660879"/>
            <a:ext cx="1768554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 dirty="0">
                <a:solidFill>
                  <a:srgbClr val="0F172A"/>
                </a:solidFill>
                <a:latin typeface="Poppins"/>
              </a:rPr>
              <a:t>Civic</a:t>
            </a:r>
            <a:r>
              <a:rPr sz="4350" b="1" i="0" u="none" dirty="0">
                <a:solidFill>
                  <a:srgbClr val="059669"/>
                </a:solidFill>
                <a:latin typeface="Poppins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8606" y="3143250"/>
            <a:ext cx="7810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AI-Powered Sustainability &amp; Environmental Grievance Assistant bridging citizen reporting with structured community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7075" y="4470499"/>
            <a:ext cx="102975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64748B"/>
                </a:solidFill>
                <a:latin typeface="Inter SemiBold"/>
              </a:rPr>
              <a:t>PRESENTED</a:t>
            </a:r>
            <a:r>
              <a:rPr sz="975" b="0" i="0" u="none" dirty="0">
                <a:solidFill>
                  <a:srgbClr val="64748B"/>
                </a:solidFill>
                <a:latin typeface="Inter SemiBold"/>
              </a:rPr>
              <a:t>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7075" y="4660999"/>
            <a:ext cx="9810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0F172A"/>
                </a:solidFill>
                <a:latin typeface="Inter SemiBold"/>
              </a:rPr>
              <a:t>Janhavi Garg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5350" y="4470499"/>
            <a:ext cx="18669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64748B"/>
                </a:solidFill>
                <a:latin typeface="Inter SemiBold"/>
              </a:rPr>
              <a:t>DEGREE &amp; SPECIALIZATION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5350" y="4660999"/>
            <a:ext cx="198936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0F172A"/>
                </a:solidFill>
                <a:latin typeface="Inter SemiBold"/>
              </a:rPr>
              <a:t>B.Tech</a:t>
            </a:r>
            <a:r>
              <a:rPr sz="1200" b="0" i="0" u="none" dirty="0">
                <a:solidFill>
                  <a:srgbClr val="0F172A"/>
                </a:solidFill>
                <a:latin typeface="Inter SemiBold"/>
              </a:rPr>
              <a:t> CSE (AI/ML) | LPU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9450" y="4470499"/>
            <a:ext cx="18954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64748B"/>
                </a:solidFill>
                <a:latin typeface="Inter SemiBold"/>
              </a:rPr>
              <a:t>PRIMARY</a:t>
            </a:r>
            <a:r>
              <a:rPr sz="975" b="0" i="0" u="none" dirty="0">
                <a:solidFill>
                  <a:srgbClr val="64748B"/>
                </a:solidFill>
                <a:latin typeface="Inter SemiBold"/>
              </a:rPr>
              <a:t> SDG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9450" y="4660999"/>
            <a:ext cx="18954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0F172A"/>
                </a:solidFill>
                <a:latin typeface="Inter SemiBold"/>
              </a:rPr>
              <a:t>SDG 11: Sustainable Cities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7114" y="1179545"/>
            <a:ext cx="9573929" cy="32810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</a:rPr>
              <a:t>Common problems include water leakage and wastage, air pollution, improper waste disposal and uncollected garbage.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</a:rPr>
              <a:t>Students and citizens may not know the correct first step when an environmental problem occurs.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</a:rPr>
              <a:t>They may also be unsure where or how to report an unresolved issue.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</a:rPr>
              <a:t>Delayed or incomplete reporting can make environmental problems continue for longer.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</a:rPr>
              <a:t>Problem statement: How might we use AI to provide accessible sustainability guidance and structured environmental grievance support so that campuses and communities can become more sustainable?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214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550" b="1" dirty="0">
                <a:solidFill>
                  <a:srgbClr val="065F46"/>
                </a:solidFill>
                <a:latin typeface="Poppins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09600" y="457200"/>
            <a:ext cx="115214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550" b="1" i="0" u="none" dirty="0">
                <a:solidFill>
                  <a:srgbClr val="065F46"/>
                </a:solidFill>
                <a:latin typeface="Poppins"/>
              </a:rPr>
              <a:t>Why This Problem Matters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1AA4D2-6E25-8E34-287C-FBBEB657FC7B}"/>
              </a:ext>
            </a:extLst>
          </p:cNvPr>
          <p:cNvSpPr txBox="1"/>
          <p:nvPr/>
        </p:nvSpPr>
        <p:spPr>
          <a:xfrm>
            <a:off x="609599" y="1303573"/>
            <a:ext cx="9220201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  <a:cs typeface="Hadassah Friedlaender" panose="020F0502020204030204" pitchFamily="18" charset="-79"/>
              </a:rPr>
              <a:t>Information gap: users may not have quick access to relevant sustainability guidance.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  <a:cs typeface="Hadassah Friedlaender" panose="020F0502020204030204" pitchFamily="18" charset="-79"/>
              </a:rPr>
              <a:t>Action gap: users may be unsure what practical steps they can take first.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  <a:cs typeface="Hadassah Friedlaender" panose="020F0502020204030204" pitchFamily="18" charset="-79"/>
              </a:rPr>
              <a:t>Reporting gap: complaints may be incomplete or missing important details.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  <a:cs typeface="Hadassah Friedlaender" panose="020F0502020204030204" pitchFamily="18" charset="-79"/>
              </a:rPr>
              <a:t>Routing gap: the issue may need to reach campus maintenance or a civic authority.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  <a:cs typeface="Hadassah Friedlaender" panose="020F0502020204030204" pitchFamily="18" charset="-79"/>
              </a:rPr>
              <a:t>CivicAI combines these steps in one conversational interface.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  <a:cs typeface="Hadassah Friedlaender" panose="020F0502020204030204" pitchFamily="18" charset="-79"/>
              </a:rPr>
              <a:t>The aim is not to replace authorities, but to make communication clearer and easier.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32" y="25291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794779"/>
              </p:ext>
            </p:extLst>
          </p:nvPr>
        </p:nvGraphicFramePr>
        <p:xfrm>
          <a:off x="646051" y="1359530"/>
          <a:ext cx="10927880" cy="36147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19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5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2947">
                <a:tc>
                  <a:txBody>
                    <a:bodyPr/>
                    <a:lstStyle/>
                    <a:p>
                      <a:pPr algn="l"/>
                      <a:r>
                        <a:rPr lang="en-IN" sz="1800" b="1" u="none" dirty="0">
                          <a:solidFill>
                            <a:srgbClr val="065F46"/>
                          </a:solidFill>
                        </a:rPr>
                        <a:t>Sustainable Development Goal</a:t>
                      </a:r>
                      <a:endParaRPr lang="en-IN" sz="1800" b="1" i="0" u="none" dirty="0">
                        <a:solidFill>
                          <a:srgbClr val="065F46"/>
                        </a:solidFill>
                        <a:latin typeface="Poppins SemiBol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u="none" dirty="0">
                          <a:solidFill>
                            <a:srgbClr val="065F46"/>
                          </a:solidFill>
                        </a:rPr>
                        <a:t>Project Focus Area</a:t>
                      </a:r>
                      <a:endParaRPr sz="1800" b="1" i="0" u="none" dirty="0">
                        <a:solidFill>
                          <a:srgbClr val="065F46"/>
                        </a:solidFill>
                        <a:latin typeface="Poppins SemiBol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u="none" dirty="0">
                          <a:solidFill>
                            <a:srgbClr val="065F46"/>
                          </a:solidFill>
                        </a:rPr>
                        <a:t>CivicAI Contribution &amp; Impact</a:t>
                      </a:r>
                      <a:endParaRPr sz="1800" b="1" i="0" u="none" dirty="0">
                        <a:solidFill>
                          <a:srgbClr val="065F46"/>
                        </a:solidFill>
                        <a:latin typeface="Poppins SemiBold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947">
                <a:tc>
                  <a:txBody>
                    <a:bodyPr/>
                    <a:lstStyle/>
                    <a:p>
                      <a:pPr algn="l"/>
                      <a:r>
                        <a:rPr sz="1600" b="1" u="none" dirty="0">
                          <a:solidFill>
                            <a:srgbClr val="334155"/>
                          </a:solidFill>
                        </a:rPr>
                        <a:t>SDG 11: Sustainable Cities &amp; Communities</a:t>
                      </a:r>
                      <a:r>
                        <a:rPr sz="1600" b="0" u="none" dirty="0">
                          <a:solidFill>
                            <a:srgbClr val="334155"/>
                          </a:solidFill>
                        </a:rPr>
                        <a:t> Primary</a:t>
                      </a:r>
                      <a:endParaRPr sz="16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334155"/>
                          </a:solidFill>
                        </a:rPr>
                        <a:t>Smart civic services and sustainable campuses</a:t>
                      </a:r>
                      <a:endParaRPr sz="16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>
                          <a:solidFill>
                            <a:srgbClr val="334155"/>
                          </a:solidFill>
                        </a:rPr>
                        <a:t>Facilitates cleaner living spaces through fast reporting and organized community maintenance workflows.</a:t>
                      </a:r>
                      <a:endParaRPr sz="16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947">
                <a:tc>
                  <a:txBody>
                    <a:bodyPr/>
                    <a:lstStyle/>
                    <a:p>
                      <a:pPr algn="l"/>
                      <a:r>
                        <a:rPr sz="1600" b="1" u="none">
                          <a:solidFill>
                            <a:srgbClr val="334155"/>
                          </a:solidFill>
                        </a:rPr>
                        <a:t>SDG 6: Clean Water and Sanitation</a:t>
                      </a:r>
                      <a:r>
                        <a:rPr sz="1600" b="0" u="none">
                          <a:solidFill>
                            <a:srgbClr val="334155"/>
                          </a:solidFill>
                        </a:rPr>
                        <a:t> Supporting</a:t>
                      </a:r>
                      <a:endParaRPr sz="16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334155"/>
                          </a:solidFill>
                        </a:rPr>
                        <a:t>Water wastage &amp; pipeline infrastructure</a:t>
                      </a:r>
                      <a:endParaRPr sz="16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>
                          <a:solidFill>
                            <a:srgbClr val="334155"/>
                          </a:solidFill>
                        </a:rPr>
                        <a:t>Prioritizes prompt reporting of leaking faucets, broken valves, and stagnant water hazards.</a:t>
                      </a:r>
                      <a:endParaRPr sz="16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947">
                <a:tc>
                  <a:txBody>
                    <a:bodyPr/>
                    <a:lstStyle/>
                    <a:p>
                      <a:pPr algn="l"/>
                      <a:r>
                        <a:rPr sz="1600" b="1" u="none" dirty="0">
                          <a:solidFill>
                            <a:srgbClr val="334155"/>
                          </a:solidFill>
                        </a:rPr>
                        <a:t>SDG 12: Responsible Consumption</a:t>
                      </a:r>
                      <a:r>
                        <a:rPr sz="1600" b="0" u="none" dirty="0">
                          <a:solidFill>
                            <a:srgbClr val="334155"/>
                          </a:solidFill>
                        </a:rPr>
                        <a:t> Supporting</a:t>
                      </a:r>
                      <a:endParaRPr sz="16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334155"/>
                          </a:solidFill>
                        </a:rPr>
                        <a:t>Waste sorting, collection, and recycling</a:t>
                      </a:r>
                      <a:endParaRPr sz="16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>
                          <a:solidFill>
                            <a:srgbClr val="334155"/>
                          </a:solidFill>
                        </a:rPr>
                        <a:t>Educates users on segregation while structuring complaints for overflowing bins and e-waste dumps.</a:t>
                      </a:r>
                      <a:endParaRPr sz="16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949">
                <a:tc>
                  <a:txBody>
                    <a:bodyPr/>
                    <a:lstStyle/>
                    <a:p>
                      <a:pPr algn="l"/>
                      <a:r>
                        <a:rPr sz="1600" b="1" u="none" dirty="0">
                          <a:solidFill>
                            <a:srgbClr val="334155"/>
                          </a:solidFill>
                        </a:rPr>
                        <a:t>SDG 13: Climate Action</a:t>
                      </a:r>
                      <a:r>
                        <a:rPr sz="1600" b="0" u="none" dirty="0">
                          <a:solidFill>
                            <a:srgbClr val="334155"/>
                          </a:solidFill>
                        </a:rPr>
                        <a:t> Supporting</a:t>
                      </a:r>
                      <a:endParaRPr sz="16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334155"/>
                          </a:solidFill>
                        </a:rPr>
                        <a:t>Environmental pollution &amp; emission control</a:t>
                      </a:r>
                      <a:endParaRPr sz="16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334155"/>
                          </a:solidFill>
                        </a:rPr>
                        <a:t>Promotes community awareness on emissions, toxic burning, and actionable climate hygiene.</a:t>
                      </a:r>
                      <a:endParaRPr sz="16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457200"/>
            <a:ext cx="115214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550" b="1" i="0" u="none" dirty="0">
                <a:solidFill>
                  <a:srgbClr val="065F46"/>
                </a:solidFill>
                <a:latin typeface="Poppins"/>
              </a:rPr>
              <a:t>SDG Alignment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99412"/>
            <a:ext cx="5257800" cy="40262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299412"/>
            <a:ext cx="5257800" cy="39107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4925" y="1541670"/>
            <a:ext cx="4460557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 dirty="0">
                <a:solidFill>
                  <a:srgbClr val="065F46"/>
                </a:solidFill>
                <a:latin typeface="Poppins SemiBold"/>
              </a:rPr>
              <a:t>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9925" y="1589799"/>
            <a:ext cx="4460557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 dirty="0">
                <a:solidFill>
                  <a:srgbClr val="065F46"/>
                </a:solidFill>
                <a:latin typeface="Poppins SemiBold"/>
              </a:rPr>
              <a:t>Civic &amp; Community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2132195"/>
            <a:ext cx="4400550" cy="67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Students &amp; Hostel Residents: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Quickly report leaking taps, broken washrooms, and dirty common areas.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002078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Faculty &amp; Staff: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Access verified sustainability knowledge and file clean institutional issues.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881588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Campus Facility Management: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Receive clean, pre-categorized tickets with full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525" y="2209197"/>
            <a:ext cx="4400550" cy="67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Local Neighborhood Residents: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Seek immediate answers for waste collection schedules and pollution.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525" y="3002078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Community Volunteers: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Drive civic clean-up initiatives armed with structured grievance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3804584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Municipal &amp; Civic Authorities: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Incur fewer vague complaints through standardized routing.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57200"/>
            <a:ext cx="115214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550" b="1" i="0" u="none" dirty="0">
                <a:solidFill>
                  <a:srgbClr val="065F46"/>
                </a:solidFill>
                <a:latin typeface="Poppins"/>
              </a:rPr>
              <a:t>Target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82" y="1222408"/>
            <a:ext cx="5308117" cy="438781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222408"/>
            <a:ext cx="5257800" cy="43878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7775" y="1486801"/>
            <a:ext cx="452056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 dirty="0">
                <a:solidFill>
                  <a:srgbClr val="065F46"/>
                </a:solidFill>
                <a:latin typeface="Poppins SemiBold"/>
              </a:rPr>
              <a:t>Conversational AI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4200" y="1448303"/>
            <a:ext cx="4550568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 dirty="0">
                <a:solidFill>
                  <a:srgbClr val="065F46"/>
                </a:solidFill>
                <a:latin typeface="Poppins SemiBold"/>
              </a:rPr>
              <a:t>Knowledge &amp; Retrieval (RAG)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1963151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IBM Granite: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Generates accurate, empathetic, and natural conversational responses.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2669409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IBM watsonx.ai: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Handles systematic prompt engineering, validation, and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308282"/>
            <a:ext cx="4400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Intent &amp; Category Classification: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Detects whether the user wants advice or grievance routing across Water, Air, and Waste.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214261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Entity Extraction: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Identifies location, duration, and severity automatically.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525" y="1905399"/>
            <a:ext cx="4400550" cy="67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Curated Knowledge Base: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Domain documents covering water saving, waste policies, and campus rules.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2669405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Context-Rich Augmentation: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Relevant guides are injected into prompts before generation.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525" y="3423786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Fact Grounding: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Eliminates hallucinations by anchoring guidance to authoritative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525" y="4216667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FAISS Vector Search: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Lightweight vector indexing for sub-second retrieval.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457200"/>
            <a:ext cx="115214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550" b="1" i="0" u="none" dirty="0">
                <a:solidFill>
                  <a:srgbClr val="065F46"/>
                </a:solidFill>
                <a:latin typeface="Poppins"/>
              </a:rPr>
              <a:t>AI Solution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20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58180" y="3786187"/>
            <a:ext cx="987549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7480" y="4033837"/>
            <a:ext cx="218902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065F46"/>
                </a:solidFill>
                <a:latin typeface="Poppins SemiBold"/>
              </a:rPr>
              <a:t>1. Empathize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38637"/>
            <a:ext cx="2084784" cy="834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Interviewed students and residents facing slow responses to everyday environmental hazards.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79484" y="2770435"/>
            <a:ext cx="218902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065F46"/>
                </a:solidFill>
                <a:latin typeface="Poppins SemiBold"/>
              </a:rPr>
              <a:t>2. Define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1464" y="3075235"/>
            <a:ext cx="3059058" cy="501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Identified the missing link: accessible DIY guidance coupled with structured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488" y="4033837"/>
            <a:ext cx="218902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065F46"/>
                </a:solidFill>
                <a:latin typeface="Poppins SemiBold"/>
              </a:rPr>
              <a:t>3. Ideate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2482" y="4338637"/>
            <a:ext cx="2084784" cy="668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Conceptualized an AI conversational assistant leveraging RAG for ground-truth advice.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492" y="2770435"/>
            <a:ext cx="218902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065F46"/>
                </a:solidFill>
                <a:latin typeface="Poppins SemiBold"/>
              </a:rPr>
              <a:t>4.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9850" y="3075235"/>
            <a:ext cx="2770733" cy="501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Engineered the full-stack system with IBM Granite, </a:t>
            </a:r>
            <a:r>
              <a:rPr sz="1400" b="0" i="0" u="none" dirty="0" err="1">
                <a:solidFill>
                  <a:srgbClr val="475569"/>
                </a:solidFill>
                <a:latin typeface="Inter"/>
              </a:rPr>
              <a:t>FastAPI</a:t>
            </a:r>
            <a:r>
              <a:rPr sz="1400" b="0" i="0" u="none" dirty="0">
                <a:solidFill>
                  <a:srgbClr val="475569"/>
                </a:solidFill>
                <a:latin typeface="Inter"/>
              </a:rPr>
              <a:t> backend, and React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5496" y="4033837"/>
            <a:ext cx="218902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065F46"/>
                </a:solidFill>
                <a:latin typeface="Poppins SemiBold"/>
              </a:rPr>
              <a:t>5. Test &amp; Refine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7990" y="4338637"/>
            <a:ext cx="2084784" cy="668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Evaluated with diverse issue inputs to optimize responsible AI and user confirmation.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214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65F46"/>
                </a:solidFill>
                <a:latin typeface="Poppins"/>
              </a:rPr>
              <a:t>Design Thinking 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6742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78746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00750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2753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44757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14862" y="1254942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03084" y="1407342"/>
            <a:ext cx="85344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0F172A"/>
                </a:solidFill>
                <a:latin typeface="Inter SemiBold"/>
              </a:rPr>
              <a:t>Step 1: Conversational Input: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The user reports an environmental issue in plain, everyday language (e.g., "Water is overflowing in block B").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3743" y="2515652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41580" y="2639172"/>
            <a:ext cx="85344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0F172A"/>
                </a:solidFill>
                <a:latin typeface="Inter SemiBold"/>
              </a:rPr>
              <a:t>Step 2: Practical Guidance First: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CivicAI immediately provides safe, actionable steps (e.g., locate shut-off valve, notify floor warden) to curb immediate harm.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3365" y="3757112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2703" y="3928762"/>
            <a:ext cx="85344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0F172A"/>
                </a:solidFill>
                <a:latin typeface="Inter SemiBold"/>
              </a:rPr>
              <a:t>Step 3: Explicit Resolution Check: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The assistant asks if the issue is solved. It only proceeds to generate a complaint if the user explicitly confirms assistance is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3363" y="5027443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31955" y="5150969"/>
            <a:ext cx="85344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0F172A"/>
                </a:solidFill>
                <a:latin typeface="Inter SemiBold"/>
              </a:rPr>
              <a:t>Step 4: Structured Routing: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Automatically compiles missing details (exact location, duration) into a clean, standardized ticket for campus or municipal dispatch.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1152144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65F46"/>
                </a:solidFill>
                <a:latin typeface="Poppins"/>
              </a:rPr>
              <a:t>CivicAI Step-by-Step User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71500"/>
            <a:ext cx="5560695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550" b="1" i="0" u="none" dirty="0">
                <a:solidFill>
                  <a:srgbClr val="065F46"/>
                </a:solidFill>
                <a:latin typeface="Poppins"/>
              </a:rPr>
              <a:t>Architecture</a:t>
            </a:r>
            <a:r>
              <a:rPr sz="2550" b="1" i="0" u="none" dirty="0">
                <a:solidFill>
                  <a:srgbClr val="065F46"/>
                </a:solidFill>
                <a:latin typeface="Poppins"/>
              </a:rPr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C0BD36-AAF0-4460-5194-4C0E611FC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86" y="1105429"/>
            <a:ext cx="8871857" cy="5322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0ED6D11-B3A7-F15D-4C82-CE205529A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57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F648DD-D0D8-2048-A1C9-3FF845F74E51}"/>
              </a:ext>
            </a:extLst>
          </p:cNvPr>
          <p:cNvSpPr txBox="1"/>
          <p:nvPr/>
        </p:nvSpPr>
        <p:spPr>
          <a:xfrm>
            <a:off x="546230" y="498767"/>
            <a:ext cx="6193856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550" b="1" i="0" u="none" dirty="0">
                <a:solidFill>
                  <a:srgbClr val="065F46"/>
                </a:solidFill>
                <a:latin typeface="Poppins"/>
              </a:rPr>
              <a:t>Conversation flow: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9F6EEF-37E1-8AD4-AC4B-F711E749A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158" y="1068404"/>
            <a:ext cx="9731141" cy="516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31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C30D257-DFFA-08CC-ACF1-34AA8086C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57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712D14-89E9-8D08-C454-DB3C43123568}"/>
              </a:ext>
            </a:extLst>
          </p:cNvPr>
          <p:cNvSpPr txBox="1"/>
          <p:nvPr/>
        </p:nvSpPr>
        <p:spPr>
          <a:xfrm>
            <a:off x="555859" y="460268"/>
            <a:ext cx="6193856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550" b="1" i="0" u="none" dirty="0">
                <a:solidFill>
                  <a:srgbClr val="065F46"/>
                </a:solidFill>
                <a:latin typeface="Poppins"/>
              </a:rPr>
              <a:t>IBM BOB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17616-5CE7-B0BB-DC4C-99EE9C284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9" y="1008516"/>
            <a:ext cx="10096501" cy="525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195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93776905-461B-6926-A74C-7F4FFFC4B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57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777952-8EAA-F82B-D009-711E2ADFB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57" y="808524"/>
            <a:ext cx="9923646" cy="514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090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BFC33989-6E00-39B5-A682-02D27EF47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57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D0810C-29EF-E1B5-75B6-BEEB8485B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22" y="1181367"/>
            <a:ext cx="10020300" cy="4991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491DB2-0DF9-DC64-C4EB-EDFECB2C4F60}"/>
              </a:ext>
            </a:extLst>
          </p:cNvPr>
          <p:cNvSpPr txBox="1"/>
          <p:nvPr/>
        </p:nvSpPr>
        <p:spPr>
          <a:xfrm>
            <a:off x="495300" y="443159"/>
            <a:ext cx="62230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550" b="1" i="0" u="none" dirty="0">
                <a:solidFill>
                  <a:srgbClr val="065F46"/>
                </a:solidFill>
                <a:latin typeface="Poppins"/>
              </a:rPr>
              <a:t>Project Demo:</a:t>
            </a:r>
          </a:p>
        </p:txBody>
      </p:sp>
    </p:spTree>
    <p:extLst>
      <p:ext uri="{BB962C8B-B14F-4D97-AF65-F5344CB8AC3E}">
        <p14:creationId xmlns:p14="http://schemas.microsoft.com/office/powerpoint/2010/main" val="3118743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721B441-26CA-AAC9-3383-EBE483BE9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57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96BDB3-3198-AD9F-5DE3-8A57096782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39149"/>
            <a:ext cx="97028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147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734EB2B1-98AE-256C-47E1-54B26CEC0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087A38-1461-1589-3A33-5A57A548A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707992"/>
            <a:ext cx="9626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67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1F40E61C-C601-EA8A-A2B7-AFEEDE675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4216A4-3D5C-6CC5-B2AB-BE1115BEF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69950"/>
            <a:ext cx="985520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9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EE48CA37-24C9-8360-31F0-89352065D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15C097-EEC6-B84A-6FA9-05BA98B2A8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025" y="646363"/>
            <a:ext cx="10231655" cy="4813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160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1C4F3A0-1958-707D-449A-16C6D08F4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086F77-FC92-263A-7C99-52AC4D897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889000"/>
            <a:ext cx="998220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64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0D7E64D-88DD-5717-A0F3-2570FC824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4A8652-65D9-C1B6-4663-80968DFB4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56" y="673768"/>
            <a:ext cx="9798519" cy="489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95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74282"/>
            <a:ext cx="3505200" cy="44661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174283"/>
            <a:ext cx="3505200" cy="44661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199" y="1174283"/>
            <a:ext cx="3867449" cy="44661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1435190"/>
            <a:ext cx="31803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 dirty="0">
                <a:solidFill>
                  <a:srgbClr val="0F172A"/>
                </a:solidFill>
                <a:latin typeface="Poppins SemiBold"/>
              </a:rPr>
              <a:t>AI &amp;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028048"/>
            <a:ext cx="3028950" cy="1436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400" b="1" i="0" u="none" dirty="0">
                <a:solidFill>
                  <a:srgbClr val="475569"/>
                </a:solidFill>
                <a:latin typeface="Inter"/>
              </a:rPr>
              <a:t>IBM Granite &amp; watsonx.ai:</a:t>
            </a:r>
            <a:r>
              <a:rPr sz="1400" b="0" i="0" u="none" dirty="0">
                <a:solidFill>
                  <a:srgbClr val="475569"/>
                </a:solidFill>
                <a:latin typeface="Inter"/>
              </a:rPr>
              <a:t> Natural language generation, prompt tuning, and structured classification.</a:t>
            </a:r>
            <a:r>
              <a:rPr sz="1400" dirty="0"/>
              <a:t>
</a:t>
            </a:r>
            <a:r>
              <a:rPr sz="1400" b="1" i="0" u="none" dirty="0">
                <a:solidFill>
                  <a:srgbClr val="475569"/>
                </a:solidFill>
                <a:latin typeface="Inter"/>
              </a:rPr>
              <a:t>IBM Bob:</a:t>
            </a:r>
            <a:r>
              <a:rPr sz="1400" b="0" i="0" u="none" dirty="0">
                <a:solidFill>
                  <a:srgbClr val="475569"/>
                </a:solidFill>
                <a:latin typeface="Inter"/>
              </a:rPr>
              <a:t> Development and debugging acceleration.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1406314"/>
            <a:ext cx="31803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 dirty="0">
                <a:solidFill>
                  <a:srgbClr val="0F172A"/>
                </a:solidFill>
                <a:latin typeface="Poppins SemiBold"/>
              </a:rPr>
              <a:t>Backend &amp;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2037673"/>
            <a:ext cx="3028950" cy="1436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400" b="1" i="0" u="none" dirty="0" err="1">
                <a:solidFill>
                  <a:srgbClr val="475569"/>
                </a:solidFill>
                <a:latin typeface="Inter"/>
              </a:rPr>
              <a:t>FastAPI</a:t>
            </a:r>
            <a:r>
              <a:rPr sz="1400" b="1" i="0" u="none" dirty="0">
                <a:solidFill>
                  <a:srgbClr val="475569"/>
                </a:solidFill>
                <a:latin typeface="Inter"/>
              </a:rPr>
              <a:t> (Python):</a:t>
            </a:r>
            <a:r>
              <a:rPr sz="1400" b="0" i="0" u="none" dirty="0">
                <a:solidFill>
                  <a:srgbClr val="475569"/>
                </a:solidFill>
                <a:latin typeface="Inter"/>
              </a:rPr>
              <a:t> High-performance async REST APIs and grievance orchestration.</a:t>
            </a:r>
            <a:r>
              <a:rPr sz="1400" dirty="0"/>
              <a:t>
</a:t>
            </a:r>
            <a:r>
              <a:rPr sz="1400" b="1" i="0" u="none" dirty="0">
                <a:solidFill>
                  <a:srgbClr val="475569"/>
                </a:solidFill>
                <a:latin typeface="Inter"/>
              </a:rPr>
              <a:t>FAISS &amp; SQLite:</a:t>
            </a:r>
            <a:r>
              <a:rPr sz="1400" b="0" i="0" u="none" dirty="0">
                <a:solidFill>
                  <a:srgbClr val="475569"/>
                </a:solidFill>
                <a:latin typeface="Inter"/>
              </a:rPr>
              <a:t> Vector similarity search and structured complaint logging.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1406320"/>
            <a:ext cx="31803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 dirty="0">
                <a:solidFill>
                  <a:srgbClr val="0F172A"/>
                </a:solidFill>
                <a:latin typeface="Poppins SemiBold"/>
              </a:rPr>
              <a:t>Frontend &amp;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2076173"/>
            <a:ext cx="3028950" cy="1436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400" b="1" i="0" u="none" dirty="0">
                <a:solidFill>
                  <a:srgbClr val="475569"/>
                </a:solidFill>
                <a:latin typeface="Inter"/>
              </a:rPr>
              <a:t>React + Vite:</a:t>
            </a:r>
            <a:r>
              <a:rPr sz="1400" b="0" i="0" u="none" dirty="0">
                <a:solidFill>
                  <a:srgbClr val="475569"/>
                </a:solidFill>
                <a:latin typeface="Inter"/>
              </a:rPr>
              <a:t> Clean, responsive, and mobile-friendly conversational interface.</a:t>
            </a:r>
            <a:r>
              <a:rPr sz="1400" dirty="0"/>
              <a:t>
</a:t>
            </a:r>
            <a:r>
              <a:rPr sz="1400" b="1" i="0" u="none" dirty="0">
                <a:solidFill>
                  <a:srgbClr val="475569"/>
                </a:solidFill>
                <a:latin typeface="Inter"/>
              </a:rPr>
              <a:t>Render &amp; GitHub:</a:t>
            </a:r>
            <a:r>
              <a:rPr sz="1400" b="0" i="0" u="none" dirty="0">
                <a:solidFill>
                  <a:srgbClr val="475569"/>
                </a:solidFill>
                <a:latin typeface="Inter"/>
              </a:rPr>
              <a:t> Automated CI/CD pipeline and accessible cloud hosting.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115214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65F46"/>
                </a:solidFill>
                <a:latin typeface="Poppins"/>
              </a:rPr>
              <a:t>Technology Stack Overview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9391" y="1224490"/>
            <a:ext cx="452056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 dirty="0">
                <a:solidFill>
                  <a:srgbClr val="065F46"/>
                </a:solidFill>
                <a:latin typeface="Poppins SemiBold"/>
              </a:rPr>
              <a:t>Fairness, Privacy &amp; 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252" y="3683834"/>
            <a:ext cx="4460557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 dirty="0">
                <a:solidFill>
                  <a:srgbClr val="065F46"/>
                </a:solidFill>
                <a:latin typeface="Poppins SemiBold"/>
              </a:rPr>
              <a:t>Transparency &amp; Human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1606548"/>
            <a:ext cx="881274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Unbiased Guidance: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Equal treatment across all campus locations and socio-economic demographics.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2203443"/>
            <a:ext cx="889740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Minimal Data Collection: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Only gathers essential operational details; strictly avoids sensitive personal info.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4" y="2842682"/>
            <a:ext cx="90598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Safety Guardrails: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Prohibits dangerous DIY advice when dealing with electrical hazards or deep sewage.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142570"/>
            <a:ext cx="97047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Clear AI Identity: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Informs the user upfront that CivicAI is an intelligent assistant, not a human officer.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609" y="4670057"/>
            <a:ext cx="91846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User Confirmation Mandate: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Complaints are never dispatched without explicit user review and agreement.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8239" y="5326934"/>
            <a:ext cx="970906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Explicit Simulation Tags: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Prototypes visibly mark generated complaint tracking IDs as simulated.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57200"/>
            <a:ext cx="1152144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65F46"/>
                </a:solidFill>
                <a:latin typeface="Poppins"/>
              </a:rPr>
              <a:t>Responsible AI and Ethical Guardrails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4" y="1472219"/>
            <a:ext cx="456057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u="none" dirty="0">
                <a:solidFill>
                  <a:srgbClr val="065F46"/>
                </a:solidFill>
                <a:latin typeface="Poppins SemiBold"/>
              </a:rPr>
              <a:t>Realized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4" y="3442499"/>
            <a:ext cx="4560570" cy="4801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200000"/>
              </a:lnSpc>
            </a:pPr>
            <a:r>
              <a:rPr b="0" i="0" u="none" dirty="0">
                <a:solidFill>
                  <a:srgbClr val="065F46"/>
                </a:solidFill>
                <a:latin typeface="Poppins SemiBold"/>
              </a:rP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1995487"/>
            <a:ext cx="9049808" cy="326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Behavioral Shift: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Transforms passive observers into proactive campus eco-stewards.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4" y="2566987"/>
            <a:ext cx="9049807" cy="69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Operational Efficiency: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Reduces administrative triage by delivering structured, deduplicated tickets.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4" y="4252715"/>
            <a:ext cx="792374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Integration with live municipal grievance portals &amp; smart campus ERPs.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4" y="4805362"/>
            <a:ext cx="84740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Image upload for automated vision-based waste and crack classification.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5376862"/>
            <a:ext cx="904980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Vernacular Indian language support for inclusive community reach.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57200"/>
            <a:ext cx="1152144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65F46"/>
                </a:solidFill>
                <a:latin typeface="Poppins"/>
              </a:rPr>
              <a:t>Project Impact and Future Vision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43062" y="2652712"/>
            <a:ext cx="89058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F9885-3C28-6490-A6C2-4640734AC858}"/>
              </a:ext>
            </a:extLst>
          </p:cNvPr>
          <p:cNvSpPr txBox="1"/>
          <p:nvPr/>
        </p:nvSpPr>
        <p:spPr>
          <a:xfrm>
            <a:off x="2816191" y="2700230"/>
            <a:ext cx="6097604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2"/>
              </a:lnSpc>
            </a:pPr>
            <a:r>
              <a:rPr lang="en-IN" sz="4350" b="1" dirty="0">
                <a:solidFill>
                  <a:srgbClr val="0F172A"/>
                </a:solidFill>
                <a:latin typeface="Poppins"/>
              </a:rPr>
              <a:t>Thank </a:t>
            </a:r>
            <a:r>
              <a:rPr lang="en-IN" sz="4350" b="1" dirty="0">
                <a:solidFill>
                  <a:srgbClr val="059669"/>
                </a:solidFill>
                <a:latin typeface="Poppins"/>
              </a:rPr>
              <a:t>You</a:t>
            </a:r>
            <a:endParaRPr lang="en-IN" sz="4350" b="1" i="0" u="none" dirty="0">
              <a:solidFill>
                <a:srgbClr val="059669"/>
              </a:solidFill>
              <a:latin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599314-D5C1-20BC-D11B-17AB2834C961}"/>
              </a:ext>
            </a:extLst>
          </p:cNvPr>
          <p:cNvSpPr/>
          <p:nvPr/>
        </p:nvSpPr>
        <p:spPr>
          <a:xfrm>
            <a:off x="640080" y="6382512"/>
            <a:ext cx="1097280" cy="45720"/>
          </a:xfrm>
          <a:prstGeom prst="rect">
            <a:avLst/>
          </a:prstGeom>
          <a:solidFill>
            <a:srgbClr val="30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1042</Words>
  <Application>Microsoft Office PowerPoint</Application>
  <PresentationFormat>Widescreen</PresentationFormat>
  <Paragraphs>102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Hadassah Friedlaender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Pandey, Rishabh</cp:lastModifiedBy>
  <cp:revision>18</cp:revision>
  <dcterms:created xsi:type="dcterms:W3CDTF">2013-01-27T09:14:16Z</dcterms:created>
  <dcterms:modified xsi:type="dcterms:W3CDTF">2026-09-10T17:48:23Z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2026-09-09T23:32:18Z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210f9f70-1972-4cdf-9698-c0d05adfd88e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